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7" r:id="rId3"/>
    <p:sldId id="258" r:id="rId4"/>
    <p:sldId id="259" r:id="rId5"/>
    <p:sldId id="268" r:id="rId6"/>
    <p:sldId id="260" r:id="rId7"/>
    <p:sldId id="261" r:id="rId8"/>
    <p:sldId id="262" r:id="rId9"/>
    <p:sldId id="269" r:id="rId10"/>
    <p:sldId id="276" r:id="rId11"/>
    <p:sldId id="263" r:id="rId12"/>
    <p:sldId id="275" r:id="rId13"/>
    <p:sldId id="267" r:id="rId14"/>
    <p:sldId id="277" r:id="rId15"/>
    <p:sldId id="270" r:id="rId16"/>
    <p:sldId id="271" r:id="rId17"/>
    <p:sldId id="278" r:id="rId18"/>
    <p:sldId id="272" r:id="rId19"/>
    <p:sldId id="273" r:id="rId20"/>
    <p:sldId id="274" r:id="rId21"/>
    <p:sldId id="264" r:id="rId22"/>
    <p:sldId id="26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60"/>
  </p:normalViewPr>
  <p:slideViewPr>
    <p:cSldViewPr showGuides="1">
      <p:cViewPr varScale="1">
        <p:scale>
          <a:sx n="78" d="100"/>
          <a:sy n="78" d="100"/>
        </p:scale>
        <p:origin x="230" y="62"/>
      </p:cViewPr>
      <p:guideLst>
        <p:guide orient="horz" pos="2152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customXml" Target="../customXml/item3.xml"/><Relationship Id="rId3" Type="http://schemas.openxmlformats.org/officeDocument/2006/relationships/slide" Target="slides/slide1.xml"/><Relationship Id="rId29" Type="http://schemas.openxmlformats.org/officeDocument/2006/relationships/customXml" Target="../customXml/item2.xml"/><Relationship Id="rId28" Type="http://schemas.openxmlformats.org/officeDocument/2006/relationships/customXml" Target="../customXml/item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BBAC0CA-2AD6-4EE7-937D-509BD6249079}" type="datetimeFigureOut">
              <a:rPr lang="en-US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D2A3619-0F3E-409F-8BBC-62CAA7C845C7}" type="slidenum">
              <a:rPr lang="en-IN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DD89DD-81C4-4E6B-AFEA-7492BED30D4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4E1BA5-2B3A-4BA0-82C4-250B1E03B9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ED520F-C50B-47BE-919C-C536996A22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76205-8481-4410-854E-4E65F0EAD3D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484B84-5CB0-42B5-A7C1-8F6F1B611DD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03558-3183-467E-979E-874438A366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72ECD8-2D72-4EB1-90BF-B7129A01E2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02FCE7-E60B-4AB4-93A7-EA35125EBB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2E6F8F-77F3-49D3-92DB-54C5A5D7EE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BED7A0-3F6B-46DF-823D-1CE0DBD630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76FB47-3F90-442C-8F17-A1D13EE195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EAC9AEA-22CE-4FC0-819B-58CD2AEA48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link.springer.com/article/10.1007/s44163-025-00598-x" TargetMode="External"/><Relationship Id="rId1" Type="http://schemas.openxmlformats.org/officeDocument/2006/relationships/hyperlink" Target="https://ieeexplore.ieee.org/document/9840390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4582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09800" y="40640"/>
            <a:ext cx="8763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Dr.Mahalingam</a:t>
            </a: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College of Engineering &amp; Technology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Department of Artificial Intelligence &amp; Data Science 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Picture 7" descr="C:\Users\STAFFS\Desktop\MCET LOGO NEW_1 (1).jp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240" y="58568"/>
            <a:ext cx="158496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52;p13"/>
          <p:cNvSpPr txBox="1"/>
          <p:nvPr/>
        </p:nvSpPr>
        <p:spPr>
          <a:xfrm>
            <a:off x="310515" y="749300"/>
            <a:ext cx="10439400" cy="57200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just">
              <a:lnSpc>
                <a:spcPct val="150000"/>
              </a:lnSpc>
              <a:spcBef>
                <a:spcPts val="0"/>
              </a:spcBef>
              <a:buSzPts val="2044"/>
              <a:buFont typeface="Arial" panose="020B0604020202020204" pitchFamily="34" charset="0"/>
              <a:buNone/>
            </a:pP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Number         : 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A12</a:t>
            </a:r>
            <a:endParaRPr lang="en-US" altLang="en-IN" sz="24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0"/>
              </a:spcBef>
              <a:buSzPts val="2044"/>
              <a:buFont typeface="Arial" panose="020B0604020202020204" pitchFamily="34" charset="0"/>
              <a:buNone/>
            </a:pP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Domain                   :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Artificial Intelligence and Machine Learning</a:t>
            </a:r>
            <a:endParaRPr lang="en-IN" sz="2400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Nova Notes: An Adaptive Placement Preparation and 				 Readiness Platform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altLang="en-US" sz="24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Faculty Supervisor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 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Mr.A.VishnuPrasath, AP(SS)/AI&amp;DS</a:t>
            </a:r>
            <a:endParaRPr lang="en-IN" sz="24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Members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Bathri Narayanan S (727624BAD067) ,</a:t>
            </a:r>
            <a:endParaRPr lang="en-US" altLang="en-IN" sz="24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               Neeraj k (727624BAD001) , </a:t>
            </a:r>
            <a:endParaRPr lang="en-US" altLang="en-IN" sz="24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               Bruthivi Raj J (727624BAD107)</a:t>
            </a:r>
            <a:endParaRPr lang="en-US" altLang="en-IN" sz="24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</a:t>
            </a:r>
            <a:endParaRPr lang="en-IN" sz="2405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r>
              <a:rPr lang="en-IN" sz="1665" dirty="0">
                <a:solidFill>
                  <a:srgbClr val="0C0C0C"/>
                </a:solidFill>
              </a:rPr>
              <a:t>		</a:t>
            </a:r>
            <a:endParaRPr lang="en-IN" dirty="0"/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74320" indent="-144780">
              <a:lnSpc>
                <a:spcPct val="80000"/>
              </a:lnSpc>
              <a:spcBef>
                <a:spcPts val="580"/>
              </a:spcBef>
              <a:buSzPts val="2044"/>
              <a:buFont typeface="Arial" panose="020B0604020202020204" pitchFamily="34" charset="0"/>
              <a:buNone/>
            </a:pPr>
            <a:endParaRPr lang="en-IN" sz="2405" dirty="0">
              <a:solidFill>
                <a:srgbClr val="0C0C0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635"/>
            <a:ext cx="10515600" cy="1691640"/>
          </a:xfrm>
        </p:spPr>
        <p:txBody>
          <a:bodyPr/>
          <a:lstStyle/>
          <a:p>
            <a:r>
              <a:rPr lang="en-US" altLang="en-IN">
                <a:solidFill>
                  <a:srgbClr val="FF0000"/>
                </a:solidFill>
              </a:rPr>
              <a:t>Contents</a:t>
            </a:r>
            <a:endParaRPr lang="en-US" altLang="en-IN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60755"/>
            <a:ext cx="10515600" cy="5471795"/>
          </a:xfrm>
        </p:spPr>
        <p:txBody>
          <a:bodyPr>
            <a:noAutofit/>
          </a:bodyPr>
          <a:lstStyle/>
          <a:p>
            <a:r>
              <a:rPr lang="en-US" altLang="en-US" sz="2000"/>
              <a:t>Problem Statement</a:t>
            </a:r>
            <a:endParaRPr lang="en-US" altLang="en-US" sz="2000"/>
          </a:p>
          <a:p>
            <a:r>
              <a:rPr lang="en-US" altLang="en-US" sz="2000"/>
              <a:t>Existing System</a:t>
            </a:r>
            <a:endParaRPr lang="en-US" altLang="en-US" sz="2000"/>
          </a:p>
          <a:p>
            <a:r>
              <a:rPr lang="en-US" altLang="en-US" sz="2000"/>
              <a:t>Abstract</a:t>
            </a:r>
            <a:endParaRPr lang="en-US" altLang="en-US" sz="2000"/>
          </a:p>
          <a:p>
            <a:r>
              <a:rPr lang="en-US" altLang="en-US" sz="2000"/>
              <a:t>Research Gap</a:t>
            </a:r>
            <a:endParaRPr lang="en-US" altLang="en-US" sz="2000"/>
          </a:p>
          <a:p>
            <a:r>
              <a:rPr lang="en-US" altLang="en-US" sz="2000"/>
              <a:t>Objectives</a:t>
            </a:r>
            <a:endParaRPr lang="en-US" altLang="en-US" sz="2000"/>
          </a:p>
          <a:p>
            <a:r>
              <a:rPr lang="en-US" altLang="en-US" sz="2000"/>
              <a:t>Proposed System</a:t>
            </a:r>
            <a:endParaRPr lang="en-US" altLang="en-US" sz="2000"/>
          </a:p>
          <a:p>
            <a:r>
              <a:rPr lang="en-US" altLang="en-US" sz="2000"/>
              <a:t>Dataset Collection</a:t>
            </a:r>
            <a:endParaRPr lang="en-US" altLang="en-US" sz="2000"/>
          </a:p>
          <a:p>
            <a:r>
              <a:rPr lang="en-US" altLang="en-US" sz="2000"/>
              <a:t>Assessment Structure</a:t>
            </a:r>
            <a:endParaRPr lang="en-US" altLang="en-US" sz="2000"/>
          </a:p>
          <a:p>
            <a:r>
              <a:rPr lang="en-US" altLang="en-US" sz="2000"/>
              <a:t>Methodology </a:t>
            </a:r>
            <a:endParaRPr lang="en-US" altLang="en-US" sz="2000"/>
          </a:p>
          <a:p>
            <a:r>
              <a:rPr lang="en-US" altLang="en-US" sz="2000"/>
              <a:t>Model Explanation</a:t>
            </a:r>
            <a:endParaRPr lang="en-US" altLang="en-US" sz="2000"/>
          </a:p>
          <a:p>
            <a:r>
              <a:rPr lang="en-US" altLang="en-US" sz="2000"/>
              <a:t>Prototype – 90% Demo</a:t>
            </a:r>
            <a:endParaRPr lang="en-US" altLang="en-US" sz="2000"/>
          </a:p>
          <a:p>
            <a:r>
              <a:rPr lang="en-US" altLang="en-US" sz="2000"/>
              <a:t>Expected Output</a:t>
            </a:r>
            <a:endParaRPr lang="en-US" altLang="en-US" sz="2000"/>
          </a:p>
          <a:p>
            <a:r>
              <a:rPr lang="en-US" altLang="en-US" sz="2000"/>
              <a:t>Tools &amp; Technologies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105275" y="43205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FF0000"/>
                </a:solidFill>
              </a:rPr>
              <a:t>Problem Statement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8590"/>
            <a:ext cx="10515600" cy="453326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sz="2220">
                <a:sym typeface="+mn-ea"/>
              </a:rPr>
              <a:t>Students use multiple platforms for placement preparation, coding practice, assessments and interview preparation.</a:t>
            </a:r>
            <a:endParaRPr lang="en-US" altLang="en-US" sz="2220"/>
          </a:p>
          <a:p>
            <a:pPr marL="0" indent="0">
              <a:buNone/>
            </a:pPr>
            <a:r>
              <a:rPr lang="en-US" altLang="en-US" sz="2220">
                <a:sym typeface="+mn-ea"/>
              </a:rPr>
              <a:t>• Existing platforms often provide practice and assessments separately without continuous personalization.</a:t>
            </a:r>
            <a:endParaRPr lang="en-US" altLang="en-US" sz="2220"/>
          </a:p>
          <a:p>
            <a:pPr marL="0" indent="0">
              <a:buNone/>
            </a:pPr>
            <a:r>
              <a:rPr lang="en-US" altLang="en-US" sz="2220">
                <a:sym typeface="+mn-ea"/>
              </a:rPr>
              <a:t>• Students may know their assessment score but cannot clearly identify their weak topics.</a:t>
            </a:r>
            <a:endParaRPr lang="en-US" altLang="en-US" sz="2220"/>
          </a:p>
          <a:p>
            <a:pPr marL="0" indent="0">
              <a:buNone/>
            </a:pPr>
            <a:r>
              <a:rPr lang="en-US" altLang="en-US" sz="2220">
                <a:sym typeface="+mn-ea"/>
              </a:rPr>
              <a:t>• Repeated assessments may contain previously attempted questions, reducing the effectiveness of reattempts.</a:t>
            </a:r>
            <a:endParaRPr lang="en-US" altLang="en-US" sz="2220"/>
          </a:p>
          <a:p>
            <a:pPr marL="0" indent="0">
              <a:buNone/>
            </a:pPr>
            <a:r>
              <a:rPr lang="en-US" altLang="en-US" sz="2220">
                <a:sym typeface="+mn-ea"/>
              </a:rPr>
              <a:t>• There is no continuous connection between assessment performance, weak-topic identification, adaptive reattempt and interview preparation.</a:t>
            </a:r>
            <a:endParaRPr lang="en-US" altLang="en-US" sz="2220"/>
          </a:p>
          <a:p>
            <a:endParaRPr lang="en-US" altLang="en-US" sz="2220"/>
          </a:p>
          <a:p>
            <a:pPr marL="0" indent="0">
              <a:buNone/>
            </a:pPr>
            <a:r>
              <a:rPr lang="en-US" altLang="en-US" sz="2220" b="1">
                <a:sym typeface="+mn-ea"/>
              </a:rPr>
              <a:t>Need</a:t>
            </a:r>
            <a:r>
              <a:rPr lang="en-US" altLang="en-US" sz="2220">
                <a:sym typeface="+mn-ea"/>
              </a:rPr>
              <a:t>:</a:t>
            </a:r>
            <a:endParaRPr lang="en-US" altLang="en-US" sz="2220"/>
          </a:p>
          <a:p>
            <a:r>
              <a:rPr lang="en-US" altLang="en-US" sz="2220">
                <a:sym typeface="+mn-ea"/>
              </a:rPr>
              <a:t>A unified platform for adaptive, role-specific placement preparation and readiness tracking.</a:t>
            </a:r>
            <a:endParaRPr lang="en-US" altLang="en-US" sz="222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79575"/>
          </a:xfrm>
        </p:spPr>
        <p:txBody>
          <a:bodyPr>
            <a:normAutofit fontScale="90000"/>
          </a:bodyPr>
          <a:p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Existing System</a:t>
            </a:r>
            <a:br>
              <a:rPr lang="en-US">
                <a:solidFill>
                  <a:srgbClr val="FF0000"/>
                </a:solidFill>
              </a:rPr>
            </a:br>
            <a:br>
              <a:rPr lang="en-US">
                <a:solidFill>
                  <a:srgbClr val="FF0000"/>
                </a:solidFill>
              </a:rPr>
            </a:b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2740"/>
            <a:ext cx="10515600" cy="4731385"/>
          </a:xfrm>
        </p:spPr>
        <p:txBody>
          <a:bodyPr>
            <a:noAutofit/>
          </a:bodyPr>
          <a:p>
            <a:r>
              <a:rPr lang="en-US" altLang="en-US" sz="2000">
                <a:sym typeface="+mn-ea"/>
              </a:rPr>
              <a:t>Existing System – Leetcode,HackerRank,ScholarPlace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ScholarPlace is a campus placement preparation platform for engineering colleges.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It provides DSA and aptitude preparation, weekly tests, mock assessments and performance analytics.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Colleges can monitor student performance through a placement dashboard.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 b="1">
                <a:sym typeface="+mn-ea"/>
              </a:rPr>
              <a:t>Limitations :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Mainly focuses on structured preparation, tests and performance tracking.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It does not specifically implement our role-specific adaptive assessment and reattempt workflow.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It does not connect weak-topic detection → different-question reattempt → qualification → AI HR interview as one continuous process.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FF0000"/>
                </a:solidFill>
              </a:rPr>
              <a:t>Abstract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351338"/>
          </a:xfrm>
        </p:spPr>
        <p:txBody>
          <a:bodyPr>
            <a:normAutofit/>
          </a:bodyPr>
          <a:p>
            <a:r>
              <a:rPr lang="en-US" altLang="en-US" sz="2000"/>
              <a:t>Nova Notes is an adaptive placement preparation and readiness platform designed for students.</a:t>
            </a:r>
            <a:endParaRPr lang="en-US" altLang="en-US" sz="2000"/>
          </a:p>
          <a:p>
            <a:r>
              <a:rPr lang="en-US" altLang="en-US" sz="2000"/>
              <a:t>Students select a specific placement role and access role-based practice and assessments.</a:t>
            </a:r>
            <a:endParaRPr lang="en-US" altLang="en-US" sz="2000"/>
          </a:p>
          <a:p>
            <a:r>
              <a:rPr lang="en-US" altLang="en-US" sz="2000"/>
              <a:t>Assessment performance is analyzed to identify weak topics and skill gaps.</a:t>
            </a:r>
            <a:endParaRPr lang="en-US" altLang="en-US" sz="2000"/>
          </a:p>
          <a:p>
            <a:r>
              <a:rPr lang="en-US" altLang="en-US" sz="2000"/>
              <a:t>Students scoring below the qualification threshold receive an adaptive reattempt with different questions focused on their weak areas.</a:t>
            </a:r>
            <a:endParaRPr lang="en-US" altLang="en-US" sz="2000"/>
          </a:p>
          <a:p>
            <a:r>
              <a:rPr lang="en-US" altLang="en-US" sz="2000"/>
              <a:t>Students who qualify can proceed to an AI-based HR mock interview.</a:t>
            </a:r>
            <a:endParaRPr lang="en-US" altLang="en-US" sz="2000"/>
          </a:p>
          <a:p>
            <a:r>
              <a:rPr lang="en-US" altLang="en-US" sz="2000"/>
              <a:t>Interview responses are evaluated based on relevance, correctness, clarity, completeness and professionalism.</a:t>
            </a:r>
            <a:endParaRPr lang="en-US" altLang="en-US" sz="2000"/>
          </a:p>
          <a:p>
            <a:r>
              <a:rPr lang="en-US" altLang="en-US" sz="2000"/>
              <a:t>The platform combines practice, assessment, interview and activity data to provide an internal placement readiness indicator.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rgbClr val="FF0000"/>
                </a:solidFill>
                <a:sym typeface="+mn-ea"/>
              </a:rPr>
              <a:t>Research Gap</a:t>
            </a:r>
            <a:endParaRPr lang="en-US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2865"/>
            <a:ext cx="10515600" cy="4695190"/>
          </a:xfrm>
        </p:spPr>
        <p:txBody>
          <a:bodyPr>
            <a:noAutofit/>
          </a:bodyPr>
          <a:p>
            <a:r>
              <a:rPr lang="en-US" altLang="en-US" sz="2000"/>
              <a:t>Existing placement platforms provide combinations of practice, assessments, adaptive learning and mock interviews.</a:t>
            </a:r>
            <a:endParaRPr lang="en-US" altLang="en-US" sz="2000"/>
          </a:p>
          <a:p>
            <a:r>
              <a:rPr lang="en-US" altLang="en-US" sz="2000"/>
              <a:t>However, these features are often provided as separate modules rather than one continuous workflow.</a:t>
            </a:r>
            <a:endParaRPr lang="en-US" altLang="en-US" sz="2000"/>
          </a:p>
          <a:p>
            <a:r>
              <a:rPr lang="en-US" altLang="en-US" sz="2000"/>
              <a:t>There is limited focus on connecting individual assessment history with weak-topic-based remediation.</a:t>
            </a:r>
            <a:endParaRPr lang="en-US" altLang="en-US" sz="2000"/>
          </a:p>
          <a:p>
            <a:r>
              <a:rPr lang="en-US" altLang="en-US" sz="2000"/>
              <a:t>Reattempt mechanisms do not always explicitly exclude the student's previously attempted questions.</a:t>
            </a:r>
            <a:endParaRPr lang="en-US" altLang="en-US" sz="2000"/>
          </a:p>
          <a:p>
            <a:r>
              <a:rPr lang="en-US" altLang="en-US" sz="2000"/>
              <a:t>There is a gap in connecting adaptive assessment → qualification → interview unlocking → readiness tracking as a single state-driven process.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Research Gap Identified:</a:t>
            </a:r>
            <a:endParaRPr lang="en-US" altLang="en-US" sz="2000" b="1"/>
          </a:p>
          <a:p>
            <a:r>
              <a:rPr lang="en-US" altLang="en-US" sz="2000"/>
              <a:t>A need exists for a closed-loop placement preparation system that uses individual assessment performance and question history to continuously personalize the student's next preparation stage.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rgbClr val="FF0000"/>
                </a:solidFill>
                <a:sym typeface="+mn-ea"/>
              </a:rPr>
              <a:t>Objectives </a:t>
            </a:r>
            <a:endParaRPr lang="en-US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869930" cy="4351655"/>
          </a:xfrm>
        </p:spPr>
        <p:txBody>
          <a:bodyPr/>
          <a:p>
            <a:r>
              <a:rPr lang="en-US" altLang="en-US" sz="2000"/>
              <a:t>Develop a centralized platform for role-specific placement preparation.</a:t>
            </a:r>
            <a:endParaRPr lang="en-US" altLang="en-US" sz="2000"/>
          </a:p>
          <a:p>
            <a:r>
              <a:rPr lang="en-US" altLang="en-US" sz="2000"/>
              <a:t>Provide technical practice using different question formats.</a:t>
            </a:r>
            <a:endParaRPr lang="en-US" altLang="en-US" sz="2000"/>
          </a:p>
          <a:p>
            <a:r>
              <a:rPr lang="en-US" altLang="en-US" sz="2000"/>
              <a:t>Conduct role-specific assessments and calculate student performance.</a:t>
            </a:r>
            <a:endParaRPr lang="en-US" altLang="en-US" sz="2000"/>
          </a:p>
          <a:p>
            <a:r>
              <a:rPr lang="en-US" altLang="en-US" sz="2000"/>
              <a:t>Identify weak topics and skill gaps from assessment results.</a:t>
            </a:r>
            <a:endParaRPr lang="en-US" altLang="en-US" sz="2000"/>
          </a:p>
          <a:p>
            <a:r>
              <a:rPr lang="en-US" altLang="en-US" sz="2000"/>
              <a:t>Generate adaptive reattempts using different questions based on weak areas.</a:t>
            </a:r>
            <a:endParaRPr lang="en-US" altLang="en-US" sz="2000"/>
          </a:p>
          <a:p>
            <a:r>
              <a:rPr lang="en-US" altLang="en-US" sz="2000"/>
              <a:t>Provide an AI-based HR mock interview for qualified students.</a:t>
            </a:r>
            <a:endParaRPr lang="en-US" altLang="en-US" sz="2000"/>
          </a:p>
          <a:p>
            <a:r>
              <a:rPr lang="en-US" altLang="en-US" sz="2000"/>
              <a:t>Track practice, assessment, interview and activity performance.</a:t>
            </a:r>
            <a:endParaRPr lang="en-US" altLang="en-US" sz="2000"/>
          </a:p>
          <a:p>
            <a:r>
              <a:rPr lang="en-US" altLang="en-US" sz="2000"/>
              <a:t>Provide an internal placement readiness indicator.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FF0000"/>
                </a:solidFill>
              </a:rPr>
              <a:t>Proposed System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838200" y="1436370"/>
            <a:ext cx="10515600" cy="4740910"/>
          </a:xfrm>
        </p:spPr>
        <p:txBody>
          <a:bodyPr>
            <a:noAutofit/>
          </a:bodyPr>
          <a:p>
            <a:r>
              <a:rPr lang="en-US" altLang="en-US" sz="2300"/>
              <a:t>Role Selection – Python Developer, Java Developer, Data Analyst, Data Scientist, ML Engineer, Web Developer, Full Stack Developer and Software Developer.</a:t>
            </a:r>
            <a:endParaRPr lang="en-US" altLang="en-US" sz="2300"/>
          </a:p>
          <a:p>
            <a:r>
              <a:rPr lang="en-US" altLang="en-US" sz="2300"/>
              <a:t>Practice – MCQ, MSQ, Output/Pseudocode and Coding.</a:t>
            </a:r>
            <a:endParaRPr lang="en-US" altLang="en-US" sz="2300"/>
          </a:p>
          <a:p>
            <a:r>
              <a:rPr lang="en-US" altLang="en-US" sz="2300"/>
              <a:t>Role-Based Assessment – Questions selected according to role, topic and difficulty.</a:t>
            </a:r>
            <a:endParaRPr lang="en-US" altLang="en-US" sz="2300"/>
          </a:p>
          <a:p>
            <a:r>
              <a:rPr lang="en-US" altLang="en-US" sz="2300"/>
              <a:t>Weak Topic Analysis – Identifies topics where the student performs poorly.</a:t>
            </a:r>
            <a:endParaRPr lang="en-US" altLang="en-US" sz="2300"/>
          </a:p>
          <a:p>
            <a:r>
              <a:rPr lang="en-US" altLang="en-US" sz="2300"/>
              <a:t>Adaptive Reattempt – Generates a new assessment focused on weak topics while excluding previously attempted questions.</a:t>
            </a:r>
            <a:endParaRPr lang="en-US" altLang="en-US" sz="2300"/>
          </a:p>
          <a:p>
            <a:r>
              <a:rPr lang="en-US" altLang="en-US" sz="2300"/>
              <a:t>Qualification – Students achieving 70% or above qualify.</a:t>
            </a:r>
            <a:endParaRPr lang="en-US" altLang="en-US" sz="2300"/>
          </a:p>
          <a:p>
            <a:r>
              <a:rPr lang="en-US" altLang="en-US" sz="2300"/>
              <a:t>AI HR Interview – Unlocked after qualifying in the selected role.</a:t>
            </a:r>
            <a:endParaRPr lang="en-US" altLang="en-US" sz="2300"/>
          </a:p>
          <a:p>
            <a:r>
              <a:rPr lang="en-US" altLang="en-US" sz="2300"/>
              <a:t>Progress &amp; Readiness – Tracks performance and provides an internal readiness indicator.</a:t>
            </a:r>
            <a:endParaRPr lang="en-US" altLang="en-US" sz="2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FF0000"/>
                </a:solidFill>
              </a:rPr>
              <a:t>Proposed System (conts)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9" name="Content Placeholder 8" descr="ChatGPT Image Sep 16, 2026, 08_23_02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54275" y="1666875"/>
            <a:ext cx="7546975" cy="451040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3345"/>
            <a:ext cx="10515600" cy="1597660"/>
          </a:xfrm>
        </p:spPr>
        <p:txBody>
          <a:bodyPr>
            <a:normAutofit/>
          </a:bodyPr>
          <a:p>
            <a:r>
              <a:rPr lang="en-US" altLang="en-US">
                <a:solidFill>
                  <a:srgbClr val="FF0000"/>
                </a:solidFill>
                <a:sym typeface="+mn-ea"/>
              </a:rPr>
              <a:t>Dataset Collection</a:t>
            </a:r>
            <a:endParaRPr lang="en-US" altLang="en-US">
              <a:solidFill>
                <a:srgbClr val="FF0000"/>
              </a:solidFill>
              <a:sym typeface="+mn-ea"/>
            </a:endParaRPr>
          </a:p>
        </p:txBody>
      </p:sp>
      <p:pic>
        <p:nvPicPr>
          <p:cNvPr id="5" name="Content Placeholder 4" descr="ChatGPT Image Sep 9, 2026, 04_01_46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95525" y="1219200"/>
            <a:ext cx="7600315" cy="50673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rgbClr val="FF0000"/>
                </a:solidFill>
              </a:rPr>
              <a:t>Assessment Structure</a:t>
            </a:r>
            <a:endParaRPr lang="en-US" altLang="en-US">
              <a:solidFill>
                <a:srgbClr val="FF0000"/>
              </a:solidFill>
            </a:endParaRPr>
          </a:p>
        </p:txBody>
      </p:sp>
      <p:pic>
        <p:nvPicPr>
          <p:cNvPr id="5" name="Content Placeholder 4" descr="ChatGPT Image Sep 16, 2026, 08_13_42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32990" y="1338580"/>
            <a:ext cx="7663815" cy="48387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FF0000"/>
                </a:solidFill>
              </a:rPr>
              <a:t>Methodology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2570"/>
            <a:ext cx="10515600" cy="466471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400"/>
              <a:t>Login → Role Selection → Practice → Assessment → Performance Analysis → Adaptive Reattempt → AI Interview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 b="1"/>
              <a:t>Techniques Used </a:t>
            </a:r>
            <a:r>
              <a:rPr lang="en-US" altLang="en-US" sz="2400"/>
              <a:t>: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Question Randomization — Role, topic and difficulty-based question selection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Assessment Evaluation — Answer comparison and score calculation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Weak Topic Analysis — Identifies low-performing topics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Adaptive Recommendation — Generates targeted practice based on weak topics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State Management — Controls assessment and interview access based on qualification</a:t>
            </a:r>
            <a:endParaRPr lang="en-US" altLang="en-US" sz="24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FF0000"/>
                </a:solidFill>
              </a:rPr>
              <a:t>Model Explanation 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8" name="Content Placeholder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37630" y="1530350"/>
            <a:ext cx="4737100" cy="448818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914400" y="1826260"/>
            <a:ext cx="4287520" cy="4079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1. Performance Analysis</a:t>
            </a:r>
            <a:endParaRPr lang="en-US" altLang="en-US"/>
          </a:p>
          <a:p>
            <a:r>
              <a:rPr lang="en-US" altLang="en-US"/>
              <a:t>Assessment → Scores → Weak Topics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2. Adaptive Recommendation</a:t>
            </a:r>
            <a:endParaRPr lang="en-US" altLang="en-US"/>
          </a:p>
          <a:p>
            <a:r>
              <a:rPr lang="en-US" altLang="en-US"/>
              <a:t>Weak Topics → Targeted Practice → Reattempt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3. AI Interview Evaluation</a:t>
            </a:r>
            <a:endParaRPr lang="en-US" altLang="en-US"/>
          </a:p>
          <a:p>
            <a:r>
              <a:rPr lang="en-US" altLang="en-US"/>
              <a:t>Voice → Speech Recognition → LLM →</a:t>
            </a:r>
            <a:endParaRPr lang="en-US" altLang="en-US"/>
          </a:p>
          <a:p>
            <a:r>
              <a:rPr lang="en-US" altLang="en-US"/>
              <a:t>Feedback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Evaluation Factors:</a:t>
            </a:r>
            <a:endParaRPr lang="en-US" altLang="en-US"/>
          </a:p>
          <a:p>
            <a:r>
              <a:rPr lang="en-US" altLang="en-US"/>
              <a:t>Relevance | Correctness | Clarity | Completeness | Professionalism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FF0000"/>
                </a:solidFill>
              </a:rPr>
              <a:t>Prototype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300"/>
              <a:t>User Signup &amp; Login</a:t>
            </a:r>
            <a:endParaRPr lang="en-US" altLang="en-US" sz="2300"/>
          </a:p>
          <a:p>
            <a:r>
              <a:rPr lang="en-US" altLang="en-US" sz="2300"/>
              <a:t>Profile Management</a:t>
            </a:r>
            <a:endParaRPr lang="en-US" altLang="en-US" sz="2300"/>
          </a:p>
          <a:p>
            <a:r>
              <a:rPr lang="en-US" altLang="en-US" sz="2300"/>
              <a:t>Role Selection</a:t>
            </a:r>
            <a:endParaRPr lang="en-US" altLang="en-US" sz="2300"/>
          </a:p>
          <a:p>
            <a:r>
              <a:rPr lang="en-US" altLang="en-US" sz="2300"/>
              <a:t>Skill Practice &amp; Topic-wise Practice</a:t>
            </a:r>
            <a:endParaRPr lang="en-US" altLang="en-US" sz="2300"/>
          </a:p>
          <a:p>
            <a:r>
              <a:rPr lang="en-US" altLang="en-US" sz="2300"/>
              <a:t>Role-Based Assessment</a:t>
            </a:r>
            <a:endParaRPr lang="en-US" altLang="en-US" sz="2300"/>
          </a:p>
          <a:p>
            <a:r>
              <a:rPr lang="en-US" altLang="en-US" sz="2300"/>
              <a:t>Result &amp; Progress Tracking</a:t>
            </a:r>
            <a:endParaRPr lang="en-US" altLang="en-US" sz="2300"/>
          </a:p>
          <a:p>
            <a:endParaRPr lang="en-US" altLang="en-US" sz="2300"/>
          </a:p>
          <a:p>
            <a:pPr marL="0" indent="0">
              <a:buNone/>
            </a:pPr>
            <a:r>
              <a:rPr lang="en-US" altLang="en-US" sz="2300" b="1"/>
              <a:t>Demo Flow</a:t>
            </a:r>
            <a:r>
              <a:rPr lang="en-US" altLang="en-US" sz="2300"/>
              <a:t>:</a:t>
            </a:r>
            <a:endParaRPr lang="en-US" altLang="en-US" sz="2300"/>
          </a:p>
          <a:p>
            <a:r>
              <a:rPr lang="en-US" altLang="en-US" sz="2300"/>
              <a:t>Login → Dashboard → Role Selection → Practice → Assessment → Result</a:t>
            </a:r>
            <a:endParaRPr lang="en-US" altLang="en-US" sz="23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FF0000"/>
                </a:solidFill>
              </a:rPr>
              <a:t>Prototype 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  <p:pic>
        <p:nvPicPr>
          <p:cNvPr id="7" name="Content Placeholder 6" descr="Screenshot 2026-09-16 20323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69315" y="1447800"/>
            <a:ext cx="3487420" cy="2005965"/>
          </a:xfrm>
          <a:prstGeom prst="rect">
            <a:avLst/>
          </a:prstGeom>
        </p:spPr>
      </p:pic>
      <p:pic>
        <p:nvPicPr>
          <p:cNvPr id="8" name="Picture 7" descr="Screenshot 2026-09-16 2033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447800"/>
            <a:ext cx="3638550" cy="2005330"/>
          </a:xfrm>
          <a:prstGeom prst="rect">
            <a:avLst/>
          </a:prstGeom>
        </p:spPr>
      </p:pic>
      <p:pic>
        <p:nvPicPr>
          <p:cNvPr id="13" name="Picture 12" descr="Screenshot 2026-09-16 2033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45585"/>
            <a:ext cx="3518535" cy="2061845"/>
          </a:xfrm>
          <a:prstGeom prst="rect">
            <a:avLst/>
          </a:prstGeom>
        </p:spPr>
      </p:pic>
      <p:pic>
        <p:nvPicPr>
          <p:cNvPr id="14" name="Picture 13" descr="Screenshot 2026-09-16 2033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245" y="4077970"/>
            <a:ext cx="3756660" cy="20599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FF0000"/>
                </a:solidFill>
              </a:rPr>
              <a:t>Expected Output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2000" b="1"/>
              <a:t>Assessment Evaluation</a:t>
            </a:r>
            <a:endParaRPr lang="en-US" altLang="en-US" sz="2000" b="1"/>
          </a:p>
          <a:p>
            <a:r>
              <a:rPr lang="en-US" altLang="en-US" sz="2000"/>
              <a:t>Overall Score | Section Scores | Qualification Status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Performance Analysis</a:t>
            </a:r>
            <a:endParaRPr lang="en-US" altLang="en-US" sz="2000" b="1"/>
          </a:p>
          <a:p>
            <a:r>
              <a:rPr lang="en-US" altLang="en-US" sz="2000"/>
              <a:t>Weak Topics | Skill Gaps | Attempt History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Adaptive Preparation</a:t>
            </a:r>
            <a:endParaRPr lang="en-US" altLang="en-US" sz="2000" b="1"/>
          </a:p>
          <a:p>
            <a:r>
              <a:rPr lang="en-US" altLang="en-US" sz="2000"/>
              <a:t>Targeted Practice | Different Questions | Reattempt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AI HR Interview</a:t>
            </a:r>
            <a:endParaRPr lang="en-US" altLang="en-US" sz="2000" b="1"/>
          </a:p>
          <a:p>
            <a:r>
              <a:rPr lang="en-US" altLang="en-US" sz="2000"/>
              <a:t>Voice Response | AI Evaluation | Feedback</a:t>
            </a:r>
            <a:endParaRPr lang="en-US" altLang="en-US" sz="2000"/>
          </a:p>
          <a:p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Final Output</a:t>
            </a:r>
            <a:endParaRPr lang="en-US" altLang="en-US" sz="2000" b="1"/>
          </a:p>
          <a:p>
            <a:r>
              <a:rPr lang="en-US" altLang="en-US" sz="2000"/>
              <a:t>Placement Readiness Indicator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FF0000"/>
                </a:solidFill>
              </a:rPr>
              <a:t>Tools &amp; Technologies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2890"/>
            <a:ext cx="10515600" cy="4644390"/>
          </a:xfrm>
        </p:spPr>
        <p:txBody>
          <a:bodyPr>
            <a:normAutofit fontScale="25000"/>
          </a:bodyPr>
          <a:p>
            <a:pPr marL="0" indent="0">
              <a:buNone/>
            </a:pPr>
            <a:r>
              <a:rPr lang="en-US" altLang="en-US" sz="9600" b="1"/>
              <a:t>Frontend :	</a:t>
            </a:r>
            <a:r>
              <a:rPr lang="en-US" altLang="en-US" sz="9600"/>
              <a:t>				</a:t>
            </a:r>
            <a:r>
              <a:rPr lang="en-US" altLang="en-US" sz="9600" b="1">
                <a:sym typeface="+mn-ea"/>
              </a:rPr>
              <a:t>Backend &amp; Database :</a:t>
            </a:r>
            <a:endParaRPr lang="en-US" altLang="en-US" sz="9600"/>
          </a:p>
          <a:p>
            <a:pPr marL="0" indent="0">
              <a:buNone/>
            </a:pPr>
            <a:r>
              <a:rPr lang="en-US" altLang="en-US" sz="9600"/>
              <a:t>Next.js						</a:t>
            </a:r>
            <a:r>
              <a:rPr lang="en-US" altLang="en-US" sz="9600">
                <a:sym typeface="+mn-ea"/>
              </a:rPr>
              <a:t>Supabase</a:t>
            </a:r>
            <a:endParaRPr lang="en-US" altLang="en-US" sz="9600"/>
          </a:p>
          <a:p>
            <a:pPr marL="0" indent="0">
              <a:buNone/>
            </a:pPr>
            <a:r>
              <a:rPr lang="en-US" altLang="en-US" sz="9600"/>
              <a:t>TypeScript					</a:t>
            </a:r>
            <a:r>
              <a:rPr lang="en-US" altLang="en-US" sz="9600">
                <a:sym typeface="+mn-ea"/>
              </a:rPr>
              <a:t>PostgreSQL</a:t>
            </a:r>
            <a:endParaRPr lang="en-US" altLang="en-US" sz="9600"/>
          </a:p>
          <a:p>
            <a:pPr marL="0" indent="0">
              <a:buNone/>
            </a:pPr>
            <a:r>
              <a:rPr lang="en-US" altLang="en-US" sz="9600"/>
              <a:t>Tailwind CSS</a:t>
            </a:r>
            <a:endParaRPr lang="en-US" altLang="en-US" sz="9600"/>
          </a:p>
          <a:p>
            <a:endParaRPr lang="en-US" altLang="en-US" sz="9600"/>
          </a:p>
          <a:p>
            <a:pPr marL="0" indent="0">
              <a:buNone/>
            </a:pPr>
            <a:r>
              <a:rPr lang="en-US" altLang="en-US" sz="9600" b="1"/>
              <a:t>Authentication &amp; Storage :			</a:t>
            </a:r>
            <a:r>
              <a:rPr lang="en-US" altLang="en-US" sz="9600" b="1">
                <a:sym typeface="+mn-ea"/>
              </a:rPr>
              <a:t>Development :</a:t>
            </a:r>
            <a:endParaRPr lang="en-US" altLang="en-US" sz="9600"/>
          </a:p>
          <a:p>
            <a:pPr marL="0" indent="0">
              <a:buNone/>
            </a:pPr>
            <a:r>
              <a:rPr lang="en-US" altLang="en-US" sz="9600"/>
              <a:t>Supabase Auth				</a:t>
            </a:r>
            <a:r>
              <a:rPr lang="en-US" altLang="en-US" sz="9600">
                <a:sym typeface="+mn-ea"/>
              </a:rPr>
              <a:t>VS Code</a:t>
            </a:r>
            <a:endParaRPr lang="en-US" altLang="en-US" sz="9600"/>
          </a:p>
          <a:p>
            <a:pPr marL="0" indent="0">
              <a:buNone/>
            </a:pPr>
            <a:r>
              <a:rPr lang="en-US" altLang="en-US" sz="9600"/>
              <a:t>Supabase Storage				</a:t>
            </a:r>
            <a:r>
              <a:rPr lang="en-US" altLang="en-US" sz="9600">
                <a:sym typeface="+mn-ea"/>
              </a:rPr>
              <a:t>Git / GitHub</a:t>
            </a:r>
            <a:endParaRPr lang="en-US" altLang="en-US" sz="9600"/>
          </a:p>
          <a:p>
            <a:pPr marL="0" indent="0">
              <a:buNone/>
            </a:pPr>
            <a:endParaRPr lang="en-US" altLang="en-US" sz="9600"/>
          </a:p>
          <a:p>
            <a:endParaRPr lang="en-US" altLang="en-US" sz="9600"/>
          </a:p>
          <a:p>
            <a:endParaRPr lang="en-US" altLang="en-US" sz="9600"/>
          </a:p>
          <a:p>
            <a:endParaRPr lang="en-US" altLang="en-US" sz="9600"/>
          </a:p>
          <a:p>
            <a:pPr marL="0" indent="0">
              <a:buNone/>
            </a:pPr>
            <a:endParaRPr lang="en-US" altLang="en-US" sz="96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FF0000"/>
                </a:solidFill>
              </a:rPr>
              <a:t>System Architecture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7775"/>
            <a:ext cx="10515600" cy="5092700"/>
          </a:xfrm>
        </p:spPr>
        <p:txBody>
          <a:bodyPr>
            <a:noAutofit/>
          </a:bodyPr>
          <a:p>
            <a:pPr marL="0" indent="0" algn="ctr">
              <a:buNone/>
            </a:pPr>
            <a:r>
              <a:rPr lang="en-US" altLang="en-US" sz="1200"/>
              <a:t>                         STUDENT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200"/>
              <a:t>                            ↓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200"/>
              <a:t>                   Next.js Frontend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200"/>
              <a:t>                            ↓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200"/>
              <a:t>                  Supabase Authentication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200"/>
              <a:t>                            ↓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200"/>
              <a:t>              ┌─────────────┴─────────────┐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200"/>
              <a:t>              ↓                           ↓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200"/>
              <a:t>         PostgreSQL                  AI Services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200"/>
              <a:t>              ↓                           ↓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200"/>
              <a:t>    Users / Questions              LLM Evaluation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200"/>
              <a:t>    Assessments / Attempts         Speech Recognition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200"/>
              <a:t>    Scores / Progress              Speech Synthesis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200"/>
              <a:t>              ↓                           ↓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200"/>
              <a:t>       Performance Data            Interview Data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200"/>
              <a:t>              ↓                           ↓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200"/>
              <a:t>       Progress Tracking       AI Interview Evaluation</a:t>
            </a:r>
            <a:endParaRPr lang="en-US" altLang="en-US" sz="12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FF0000"/>
                </a:solidFill>
              </a:rPr>
              <a:t>Conclusion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en-US" altLang="en-US"/>
              <a:t>Nova Notes provides a unified placement preparation environment.</a:t>
            </a:r>
            <a:endParaRPr lang="en-US" altLang="en-US"/>
          </a:p>
          <a:p>
            <a:r>
              <a:rPr lang="en-US" altLang="en-US"/>
              <a:t>Role-specific practice and assessment are integrated.</a:t>
            </a:r>
            <a:endParaRPr lang="en-US" altLang="en-US"/>
          </a:p>
          <a:p>
            <a:r>
              <a:rPr lang="en-US" altLang="en-US"/>
              <a:t>Student performance is analyzed to identify weak topics.</a:t>
            </a:r>
            <a:endParaRPr lang="en-US" altLang="en-US"/>
          </a:p>
          <a:p>
            <a:r>
              <a:rPr lang="en-US" altLang="en-US"/>
              <a:t>Adaptive practice supports targeted reattempts.</a:t>
            </a:r>
            <a:endParaRPr lang="en-US" altLang="en-US"/>
          </a:p>
          <a:p>
            <a:r>
              <a:rPr lang="en-US" altLang="en-US"/>
              <a:t>AI-based HR interview evaluation extends the preparation workflow.</a:t>
            </a:r>
            <a:endParaRPr lang="en-US" altLang="en-US"/>
          </a:p>
          <a:p>
            <a:r>
              <a:rPr lang="en-US" altLang="en-US"/>
              <a:t>Assessment, practice and interview activities contribute to placement readiness.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 b="1"/>
              <a:t>Future Scope</a:t>
            </a:r>
            <a:r>
              <a:rPr lang="en-US" altLang="en-US"/>
              <a:t> :</a:t>
            </a:r>
            <a:endParaRPr lang="en-US" altLang="en-US"/>
          </a:p>
          <a:p>
            <a:r>
              <a:rPr lang="en-US" altLang="en-US"/>
              <a:t>More Roles | Larger Question Bank | Advanced Recommendations | Interview Analytics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rgbClr val="FF0000"/>
                </a:solidFill>
                <a:sym typeface="+mn-ea"/>
              </a:rPr>
              <a:t>References</a:t>
            </a:r>
            <a:endParaRPr lang="en-US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/>
              <a:t>Al-Karaki, J. N., et al. (2022). AI-Based Personalized E-Learning Systems: Issues, Challenges, and Solutions. IEEE Access, 10, 81323–81342. </a:t>
            </a:r>
            <a:endParaRPr lang="en-US" altLang="en-US" sz="2400"/>
          </a:p>
          <a:p>
            <a:r>
              <a:rPr lang="en-US" altLang="en-US" sz="2400">
                <a:hlinkClick r:id="rId1" action="ppaction://hlinkfile"/>
              </a:rPr>
              <a:t>https://ieeexplore.ieee.org/document/9840390/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Artificial Intelligence-Based Personalised Learning in Education: A Systematic Literature Review (2025). Discover Artificial Intelligence.</a:t>
            </a:r>
            <a:endParaRPr lang="en-US" altLang="en-US" sz="2400"/>
          </a:p>
          <a:p>
            <a:r>
              <a:rPr lang="en-US" altLang="en-US" sz="2400">
                <a:hlinkClick r:id="rId2" action="ppaction://hlinkfile"/>
              </a:rPr>
              <a:t>https://link.springer.com/article/10.1007/s44163-025-00598-x</a:t>
            </a:r>
            <a:endParaRPr lang="en-US" altLang="en-US" sz="24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9210" y="17780"/>
            <a:ext cx="12233275" cy="6338570"/>
          </a:xfrm>
        </p:spPr>
        <p:txBody>
          <a:bodyPr/>
          <a:p>
            <a:pPr algn="ctr"/>
            <a:r>
              <a:rPr lang="en-US">
                <a:solidFill>
                  <a:srgbClr val="FF0000"/>
                </a:solidFill>
              </a:rPr>
              <a:t>THANK YOU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5181600"/>
            <a:ext cx="7326630" cy="991870"/>
          </a:xfrm>
        </p:spPr>
        <p:txBody>
          <a:bodyPr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F1BCB14E108D43AB233A31F986D556" ma:contentTypeVersion="15" ma:contentTypeDescription="Create a new document." ma:contentTypeScope="" ma:versionID="606eb99ade008cbd837459e6299ff69f">
  <xsd:schema xmlns:xsd="http://www.w3.org/2001/XMLSchema" xmlns:xs="http://www.w3.org/2001/XMLSchema" xmlns:p="http://schemas.microsoft.com/office/2006/metadata/properties" xmlns:ns2="9091ee48-ca27-4fcf-b5de-98ddf097c65b" xmlns:ns3="aa0e8f73-967c-4e13-b55c-6b4dcdfd4341" targetNamespace="http://schemas.microsoft.com/office/2006/metadata/properties" ma:root="true" ma:fieldsID="4f0695f8f66d9a55fcdb756ad6a4800d" ns2:_="" ns3:_="">
    <xsd:import namespace="9091ee48-ca27-4fcf-b5de-98ddf097c65b"/>
    <xsd:import namespace="aa0e8f73-967c-4e13-b55c-6b4dcdfd4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91ee48-ca27-4fcf-b5de-98ddf097c6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a8dc31b-8fe8-4e59-b85a-c7b64a9b44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0e8f73-967c-4e13-b55c-6b4dcdfd434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7c6695d-8cf1-4d67-be06-2ceec35c97d8}" ma:internalName="TaxCatchAll" ma:showField="CatchAllData" ma:web="aa0e8f73-967c-4e13-b55c-6b4dcdfd4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a0e8f73-967c-4e13-b55c-6b4dcdfd4341" xsi:nil="true"/>
    <lcf76f155ced4ddcb4097134ff3c332f xmlns="9091ee48-ca27-4fcf-b5de-98ddf097c65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91E36E6-5217-4E12-971E-AF9D2089B059}">
  <ds:schemaRefs/>
</ds:datastoreItem>
</file>

<file path=customXml/itemProps2.xml><?xml version="1.0" encoding="utf-8"?>
<ds:datastoreItem xmlns:ds="http://schemas.openxmlformats.org/officeDocument/2006/customXml" ds:itemID="{FFB38897-1384-41D0-8D2B-BBB64548DD67}">
  <ds:schemaRefs/>
</ds:datastoreItem>
</file>

<file path=customXml/itemProps3.xml><?xml version="1.0" encoding="utf-8"?>
<ds:datastoreItem xmlns:ds="http://schemas.openxmlformats.org/officeDocument/2006/customXml" ds:itemID="{E4703F4C-A684-46B9-B306-BF2B5B49124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8093</Words>
  <Application>WPS Presentation</Application>
  <PresentationFormat>Widescreen</PresentationFormat>
  <Paragraphs>218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SimSun</vt:lpstr>
      <vt:lpstr>Wingdings</vt:lpstr>
      <vt:lpstr>Times New Roman</vt:lpstr>
      <vt:lpstr>Helvetica</vt:lpstr>
      <vt:lpstr>Times New Roman</vt:lpstr>
      <vt:lpstr>Calibri</vt:lpstr>
      <vt:lpstr>Microsoft YaHei</vt:lpstr>
      <vt:lpstr>Arial Unicode MS</vt:lpstr>
      <vt:lpstr>Calibri Light</vt:lpstr>
      <vt:lpstr>Office Theme</vt:lpstr>
      <vt:lpstr>   </vt:lpstr>
      <vt:lpstr>Contents</vt:lpstr>
      <vt:lpstr>Problem Statement</vt:lpstr>
      <vt:lpstr> Existing System  </vt:lpstr>
      <vt:lpstr>Abstract</vt:lpstr>
      <vt:lpstr>Research Gap</vt:lpstr>
      <vt:lpstr>Objectives </vt:lpstr>
      <vt:lpstr>Proposed System</vt:lpstr>
      <vt:lpstr>Proposed System (conts)</vt:lpstr>
      <vt:lpstr>Dataset Collection</vt:lpstr>
      <vt:lpstr>Assessment Structure</vt:lpstr>
      <vt:lpstr>Methodology</vt:lpstr>
      <vt:lpstr>Model Explanation </vt:lpstr>
      <vt:lpstr>Prototype</vt:lpstr>
      <vt:lpstr>Prototype </vt:lpstr>
      <vt:lpstr>Expected Output</vt:lpstr>
      <vt:lpstr>Tools &amp; Technologies</vt:lpstr>
      <vt:lpstr>System Architecture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Welcome</dc:creator>
  <cp:lastModifiedBy>Bathri Narayanan.S</cp:lastModifiedBy>
  <cp:revision>164</cp:revision>
  <dcterms:created xsi:type="dcterms:W3CDTF">2006-08-16T00:00:00Z</dcterms:created>
  <dcterms:modified xsi:type="dcterms:W3CDTF">2026-09-17T06:01:10Z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726DF307384E489DACB3BEC6DAFA992B_13</vt:lpwstr>
  </property>
  <property fmtid="{D5CDD505-2E9C-101B-9397-08002B2CF9AE}" pid="4" name="ContentTypeId">
    <vt:lpwstr>0x01010098F1BCB14E108D43AB233A31F986D556</vt:lpwstr>
  </property>
</Properties>
</file>